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CE056"/>
    <a:srgbClr val="F5CD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01" y="451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2C465-B2DF-E549-5615-2DDCC1B4D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B65B3B-B28E-8184-B614-691F84AB2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850B51-BF36-59FB-9791-8C746858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D607F8-5ADB-DCF5-AAE1-6B8A4534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06B67A-7B2D-61FE-86F5-518940C1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16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E1839-05E8-2DA3-4195-455B96A7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6D5A63-4F7C-AFAE-075E-80D2C8BB6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8C32DC-B2CD-40C8-E482-D3E60D2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6A36C5-B65E-9745-0B58-8220B9EE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4AC107-4CC0-BE02-5EC8-DE41BAF6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64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F6250-93DA-2534-20F3-19414441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169D5B-4A42-D456-8037-CDFC3D7EB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A3AFBB-C644-83F3-3621-9FF6C7D2D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D319DF-428A-4323-7CD8-A362DE5D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CCB170-7024-2523-1EBA-5233A109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65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CA0588-E215-55A9-9605-AE287000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D8D653-90EC-D467-E437-CE5E95D03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2EBF23-684E-7321-74A2-7F8E33F6D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182453-4A0F-EF60-F6C9-884F00DF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019719-854E-46E8-0D20-80A81485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127E30-64C2-BDC7-8803-F92C32EE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087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AEA9F-9742-4E23-5196-F0B4EB99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E24C41-0C90-D1B3-09E0-6F902B63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7C7D1D-CC4E-88FA-4C70-1BD8A7377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99F1991-7B7A-D2FE-8782-12BBA8B8C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C59D67-F863-FAF4-232A-5146277F1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3D4E0C-D7CF-363B-D0F5-FFE9C7A85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515735-2324-89B0-121B-26419F92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5F0A84F-8980-E8FA-1821-F963095A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28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E9B3A-6493-D433-FF36-12DC7E77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4945B18-5FD2-9D2C-E177-B1ECD09F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2C0583-D23F-38F0-BE66-7E11316A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EA5EBB-22B9-1D02-386F-1EBB79BA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72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96F02FA-1349-9322-31F3-ED663FB5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FCB716-B388-FB53-EE72-E9835BE8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CBB552-8EFF-D721-9250-E14D109E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80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80786-9511-7CAC-DE8F-3AB1C7EF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D20520-E013-9C66-26CB-D818CEFED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A3E2CD-48F7-A1C6-D53F-783D1C77C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FAE290-4EFE-C3D8-CEC4-03190350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10FA2-82A7-6AAA-AC2C-0E3C88BB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6F6CD6-919F-758B-24A5-0AB38AF3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60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C983B-396E-E21D-6833-18FAD1D1A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0E34BED-F737-EAB7-031C-532D01D03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668E47D-C5C6-6B55-8C50-31C0D2804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ABEC9E-7597-E0A1-C249-FE8AD40A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9932A9-FD54-113F-7AF6-0C1F8B86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D0E3DF-622A-21BE-7656-C86049A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342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BB67C1-1A16-14CF-18B3-110ECD91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132E9-E3A0-429F-C417-BB8FA5E0B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11FC5E-E0DC-B638-B092-C25EA1CF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73CF03-48C1-7B7E-6E06-D493C8B8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B6B603-6D23-08F1-FB0D-6B8D13AC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834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1661BF6-AAF5-A910-E461-9D4D73F58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C1C597-6588-FFC7-7C0D-062E5B605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41F62A-034F-28D3-F7B0-6D3CAB70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A3F94D-5E7D-A619-776F-D69E5B73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25B644-5360-7F20-17F0-C21CF3C1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82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B46D753-A802-B69A-484C-ED22D2EA0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18A1F7-4C85-2B2E-F271-7A70B7FEB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F80F7C-DAFB-19B8-6402-66B8A440C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67996-FE40-4FE2-AB7A-0DC12A9726E2}" type="datetimeFigureOut">
              <a:rPr lang="zh-TW" altLang="en-US" smtClean="0"/>
              <a:t>2026/6/23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B3B3D5-55C3-DC60-F9C6-0AE321401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C48E9F-1FFB-A2CB-D810-2819B43BF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420AB-4218-4D0E-956D-6B2022EA0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79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gfz.de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www.space-track.org/auth/log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hyperlink" Target="https://www.space-track.org/documentation#/api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s://github.com/kevin19cool/BI_project_leo_risk_analysis" TargetMode="Externa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hyperlink" Target="https://kp.gfz.de/en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7A5C93AB-1C7C-5A1D-DAF7-6AFB590610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4" t="65243" r="49501" b="18215"/>
          <a:stretch>
            <a:fillRect/>
          </a:stretch>
        </p:blipFill>
        <p:spPr>
          <a:xfrm>
            <a:off x="6742706" y="1118044"/>
            <a:ext cx="1765190" cy="58563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AFD0F96-4F81-348C-0A41-D08C1E691ACF}"/>
              </a:ext>
            </a:extLst>
          </p:cNvPr>
          <p:cNvSpPr/>
          <p:nvPr/>
        </p:nvSpPr>
        <p:spPr>
          <a:xfrm>
            <a:off x="2387314" y="2318976"/>
            <a:ext cx="6661270" cy="291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1FB2D4B-7694-0FA5-1FCF-453FE08EE4E8}"/>
              </a:ext>
            </a:extLst>
          </p:cNvPr>
          <p:cNvSpPr txBox="1"/>
          <p:nvPr/>
        </p:nvSpPr>
        <p:spPr>
          <a:xfrm>
            <a:off x="6209144" y="3790112"/>
            <a:ext cx="243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FFFF00"/>
                </a:solidFill>
                <a:latin typeface="Taipei Sans TC Beta" pitchFamily="2" charset="-120"/>
                <a:ea typeface="Taipei Sans TC Beta" pitchFamily="2" charset="-120"/>
              </a:rPr>
              <a:t>Cheng-Yi Lin </a:t>
            </a:r>
            <a:r>
              <a:rPr lang="zh-TW" altLang="en-US" sz="1600" dirty="0">
                <a:solidFill>
                  <a:srgbClr val="FFFF00"/>
                </a:solidFill>
                <a:latin typeface="Taipei Sans TC Beta" pitchFamily="2" charset="-120"/>
                <a:ea typeface="Taipei Sans TC Beta" pitchFamily="2" charset="-120"/>
              </a:rPr>
              <a:t>林正翌</a:t>
            </a:r>
            <a:endParaRPr lang="en-US" altLang="zh-TW" sz="1600" dirty="0">
              <a:solidFill>
                <a:srgbClr val="FFFF00"/>
              </a:solidFill>
              <a:latin typeface="Taipei Sans TC Beta" pitchFamily="2" charset="-120"/>
              <a:ea typeface="Taipei Sans TC Beta" pitchFamily="2" charset="-120"/>
            </a:endParaRPr>
          </a:p>
          <a:p>
            <a:r>
              <a:rPr lang="en-US" altLang="zh-TW" sz="1600" dirty="0">
                <a:solidFill>
                  <a:srgbClr val="FFFF00"/>
                </a:solidFill>
                <a:latin typeface="Taipei Sans TC Beta" pitchFamily="2" charset="-120"/>
                <a:ea typeface="Taipei Sans TC Beta" pitchFamily="2" charset="-120"/>
              </a:rPr>
              <a:t>2026</a:t>
            </a:r>
            <a:endParaRPr lang="zh-TW" altLang="en-US" sz="1600" dirty="0">
              <a:solidFill>
                <a:srgbClr val="FFFF00"/>
              </a:solidFill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DA1E62F2-4D60-C103-173D-05FD04932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4612" y="283720"/>
            <a:ext cx="1618878" cy="38903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2378AF2-B716-943C-77FA-ECA32866A3DF}"/>
              </a:ext>
            </a:extLst>
          </p:cNvPr>
          <p:cNvSpPr/>
          <p:nvPr/>
        </p:nvSpPr>
        <p:spPr>
          <a:xfrm>
            <a:off x="1358509" y="1937614"/>
            <a:ext cx="4948361" cy="1100000"/>
          </a:xfrm>
          <a:prstGeom prst="rect">
            <a:avLst/>
          </a:prstGeom>
          <a:solidFill>
            <a:srgbClr val="00B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A6C262C-3A07-A72D-9D58-08BB3E922AAB}"/>
              </a:ext>
            </a:extLst>
          </p:cNvPr>
          <p:cNvSpPr txBox="1"/>
          <p:nvPr/>
        </p:nvSpPr>
        <p:spPr>
          <a:xfrm>
            <a:off x="1358509" y="2167198"/>
            <a:ext cx="407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Taipei Sans TC Beta bold" pitchFamily="2" charset="-120"/>
                <a:ea typeface="Taipei Sans TC Beta bold" pitchFamily="2" charset="-120"/>
              </a:rPr>
              <a:t>Business Intelligence Presentation</a:t>
            </a:r>
            <a:endParaRPr lang="zh-TW" altLang="en-US" dirty="0">
              <a:solidFill>
                <a:schemeClr val="bg1"/>
              </a:solidFill>
              <a:latin typeface="Taipei Sans TC Beta bold" pitchFamily="2" charset="-120"/>
              <a:ea typeface="Taipei Sans TC Beta bold" pitchFamily="2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5FA9B1-9D0E-24D1-7E52-BB8FB8C76F82}"/>
              </a:ext>
            </a:extLst>
          </p:cNvPr>
          <p:cNvSpPr txBox="1"/>
          <p:nvPr/>
        </p:nvSpPr>
        <p:spPr>
          <a:xfrm>
            <a:off x="2686716" y="2407323"/>
            <a:ext cx="60358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>
                <a:solidFill>
                  <a:srgbClr val="FCE056"/>
                </a:solidFill>
                <a:latin typeface="Taipei Sans TC Beta bold" pitchFamily="2" charset="-120"/>
                <a:ea typeface="Taipei Sans TC Beta bold" pitchFamily="2" charset="-120"/>
              </a:rPr>
              <a:t>LEO RISK ETL Project</a:t>
            </a:r>
            <a:endParaRPr lang="zh-TW" altLang="en-US" sz="6600" dirty="0">
              <a:solidFill>
                <a:srgbClr val="FCE056"/>
              </a:solidFill>
              <a:latin typeface="Taipei Sans TC Beta bold" pitchFamily="2" charset="-120"/>
              <a:ea typeface="Taipei Sans TC Beta bold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BBB8AC0-FDC6-1CCF-4439-ECDC28786C9B}"/>
              </a:ext>
            </a:extLst>
          </p:cNvPr>
          <p:cNvSpPr txBox="1"/>
          <p:nvPr/>
        </p:nvSpPr>
        <p:spPr>
          <a:xfrm>
            <a:off x="1406042" y="1989796"/>
            <a:ext cx="2496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  <a:latin typeface="Taipei Sans TC Beta Light" pitchFamily="2" charset="-120"/>
                <a:ea typeface="Taipei Sans TC Beta Light" pitchFamily="2" charset="-120"/>
              </a:rPr>
              <a:t>Lecturer: Prof. </a:t>
            </a:r>
            <a:r>
              <a:rPr lang="en-US" altLang="zh-TW" sz="1200" dirty="0">
                <a:solidFill>
                  <a:schemeClr val="bg1"/>
                </a:solidFill>
                <a:latin typeface="Taipei Sans TC Beta Light" pitchFamily="2" charset="-120"/>
                <a:ea typeface="Taipei Sans TC Beta Light" pitchFamily="2" charset="-120"/>
              </a:rPr>
              <a:t>Zainab Usman</a:t>
            </a:r>
            <a:endParaRPr lang="zh-TW" altLang="en-US" sz="1100" dirty="0">
              <a:solidFill>
                <a:schemeClr val="bg1"/>
              </a:solidFill>
              <a:latin typeface="Taipei Sans TC Beta Light" pitchFamily="2" charset="-120"/>
              <a:ea typeface="Taipei Sans TC Beta Light" pitchFamily="2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CADFCA7-4A0D-9D57-BDDD-B472F27937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857"/>
          <a:stretch>
            <a:fillRect/>
          </a:stretch>
        </p:blipFill>
        <p:spPr>
          <a:xfrm>
            <a:off x="6644560" y="5984633"/>
            <a:ext cx="3272159" cy="28539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3BF96AE-4F22-613E-A7DA-2C0C8E676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33" y="5799986"/>
            <a:ext cx="4036109" cy="65468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982BB6AF-4A36-C04D-1839-C7535C6AB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6" t="16956" r="31028" b="35540"/>
          <a:stretch>
            <a:fillRect/>
          </a:stretch>
        </p:blipFill>
        <p:spPr>
          <a:xfrm>
            <a:off x="6742706" y="392298"/>
            <a:ext cx="2605280" cy="21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5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71FE402-BE3E-6690-20A9-2740B19FCC08}"/>
              </a:ext>
            </a:extLst>
          </p:cNvPr>
          <p:cNvSpPr/>
          <p:nvPr/>
        </p:nvSpPr>
        <p:spPr>
          <a:xfrm>
            <a:off x="0" y="-33208"/>
            <a:ext cx="12192000" cy="69244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572F925-3C49-0C81-30F7-97AAA3F204DE}"/>
              </a:ext>
            </a:extLst>
          </p:cNvPr>
          <p:cNvSpPr txBox="1"/>
          <p:nvPr/>
        </p:nvSpPr>
        <p:spPr>
          <a:xfrm>
            <a:off x="558962" y="61687"/>
            <a:ext cx="90653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>
                <a:solidFill>
                  <a:srgbClr val="FCE056"/>
                </a:solidFill>
                <a:latin typeface="Taipei Sans TC Beta bold" pitchFamily="2" charset="-120"/>
                <a:ea typeface="Taipei Sans TC Beta bold" pitchFamily="2" charset="-120"/>
              </a:rPr>
              <a:t>ETL &amp; BI Architecture</a:t>
            </a:r>
            <a:endParaRPr lang="zh-TW" altLang="en-US" sz="6600" dirty="0">
              <a:solidFill>
                <a:srgbClr val="FCE056"/>
              </a:solidFill>
              <a:latin typeface="Taipei Sans TC Beta bold" pitchFamily="2" charset="-120"/>
              <a:ea typeface="Taipei Sans TC Beta bold" pitchFamily="2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0602F4D-80B8-A58B-6264-5876FAE92785}"/>
              </a:ext>
            </a:extLst>
          </p:cNvPr>
          <p:cNvSpPr/>
          <p:nvPr/>
        </p:nvSpPr>
        <p:spPr>
          <a:xfrm>
            <a:off x="795129" y="2178656"/>
            <a:ext cx="2910179" cy="100186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U.S. Space-Track API</a:t>
            </a:r>
          </a:p>
          <a:p>
            <a:pPr algn="ctr"/>
            <a:r>
              <a:rPr lang="en-US" altLang="zh-TW" sz="1400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(7-day Orbital Snapshots)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  <a:hlinkClick r:id="rId2"/>
              </a:rPr>
              <a:t>https://www.space-track.org/auth/login</a:t>
            </a:r>
            <a:endParaRPr lang="zh-TW" altLang="en-US" sz="1400" dirty="0">
              <a:solidFill>
                <a:schemeClr val="tx1"/>
              </a:solidFill>
              <a:latin typeface="Taipei Sans TC Beta" pitchFamily="2" charset="-120"/>
              <a:ea typeface="Taipei Sans TC Beta" pitchFamily="2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901065D-20C8-1EAA-7AC1-C16E9C7526CA}"/>
              </a:ext>
            </a:extLst>
          </p:cNvPr>
          <p:cNvSpPr/>
          <p:nvPr/>
        </p:nvSpPr>
        <p:spPr>
          <a:xfrm>
            <a:off x="795129" y="4157688"/>
            <a:ext cx="2910179" cy="100186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German GFZ Api</a:t>
            </a:r>
          </a:p>
          <a:p>
            <a:pPr algn="ctr"/>
            <a:r>
              <a:rPr lang="en-US" altLang="zh-TW" sz="1400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(30-Day Space Weather)</a:t>
            </a:r>
          </a:p>
          <a:p>
            <a:pPr algn="ctr"/>
            <a:r>
              <a:rPr lang="en-US" altLang="zh-TW" sz="900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  <a:hlinkClick r:id="rId3"/>
              </a:rPr>
              <a:t>https://www.gfz.de/</a:t>
            </a:r>
            <a:endParaRPr lang="zh-TW" altLang="en-US" sz="1400" dirty="0">
              <a:solidFill>
                <a:schemeClr val="tx1"/>
              </a:solidFill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8F90EE6-A228-8A7B-8490-B45CF78EE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39" y="3655369"/>
            <a:ext cx="2429480" cy="39408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11894DD-6A5D-88D1-5C50-E359C40B1A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857"/>
          <a:stretch>
            <a:fillRect/>
          </a:stretch>
        </p:blipFill>
        <p:spPr>
          <a:xfrm>
            <a:off x="986548" y="1884312"/>
            <a:ext cx="2504662" cy="218453"/>
          </a:xfrm>
          <a:prstGeom prst="rect">
            <a:avLst/>
          </a:prstGeom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EF9E190-C703-8C5A-A5DA-0C045458C029}"/>
              </a:ext>
            </a:extLst>
          </p:cNvPr>
          <p:cNvSpPr/>
          <p:nvPr/>
        </p:nvSpPr>
        <p:spPr>
          <a:xfrm>
            <a:off x="4126727" y="1537736"/>
            <a:ext cx="5255812" cy="4532243"/>
          </a:xfrm>
          <a:prstGeom prst="roundRect">
            <a:avLst>
              <a:gd name="adj" fmla="val 4913"/>
            </a:avLst>
          </a:prstGeom>
          <a:solidFill>
            <a:schemeClr val="bg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9F23DEB-C47E-DDD4-CDF9-08C8506215F1}"/>
              </a:ext>
            </a:extLst>
          </p:cNvPr>
          <p:cNvSpPr/>
          <p:nvPr/>
        </p:nvSpPr>
        <p:spPr>
          <a:xfrm>
            <a:off x="4378415" y="2178656"/>
            <a:ext cx="2250219" cy="1066730"/>
          </a:xfrm>
          <a:prstGeom prst="roundRect">
            <a:avLst>
              <a:gd name="adj" fmla="val 8432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One-Time Cold History Bootstrap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402D2D0-C61D-74F6-376F-603896746D2F}"/>
              </a:ext>
            </a:extLst>
          </p:cNvPr>
          <p:cNvSpPr/>
          <p:nvPr/>
        </p:nvSpPr>
        <p:spPr>
          <a:xfrm>
            <a:off x="4378415" y="4157688"/>
            <a:ext cx="2250219" cy="1305270"/>
          </a:xfrm>
          <a:prstGeom prst="roundRect">
            <a:avLst>
              <a:gd name="adj" fmla="val 8432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Automated Daily Workflow</a:t>
            </a:r>
          </a:p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Taipei Sans TC Beta" pitchFamily="2" charset="-120"/>
                <a:ea typeface="Taipei Sans TC Beta" pitchFamily="2" charset="-120"/>
              </a:rPr>
              <a:t>(Apache Airflow)</a:t>
            </a:r>
          </a:p>
        </p:txBody>
      </p: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127FDB97-FF91-4BAB-29C8-FE9261FC8057}"/>
              </a:ext>
            </a:extLst>
          </p:cNvPr>
          <p:cNvCxnSpPr>
            <a:cxnSpLocks/>
          </p:cNvCxnSpPr>
          <p:nvPr/>
        </p:nvCxnSpPr>
        <p:spPr>
          <a:xfrm>
            <a:off x="3724102" y="4810323"/>
            <a:ext cx="654313" cy="453440"/>
          </a:xfrm>
          <a:prstGeom prst="bentConnector3">
            <a:avLst>
              <a:gd name="adj1" fmla="val 28126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D444E6AE-D8E2-E1F8-39C0-3BDFED5B879E}"/>
              </a:ext>
            </a:extLst>
          </p:cNvPr>
          <p:cNvCxnSpPr>
            <a:cxnSpLocks/>
          </p:cNvCxnSpPr>
          <p:nvPr/>
        </p:nvCxnSpPr>
        <p:spPr>
          <a:xfrm>
            <a:off x="3705308" y="2412906"/>
            <a:ext cx="673107" cy="117124"/>
          </a:xfrm>
          <a:prstGeom prst="bentConnector3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3D6B2A1D-DF42-4673-E235-43A8636C7275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3705308" y="2679588"/>
            <a:ext cx="673107" cy="2130735"/>
          </a:xfrm>
          <a:prstGeom prst="bentConnector3">
            <a:avLst>
              <a:gd name="adj1" fmla="val 50000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CBF4457C-7109-13D6-55D5-E25DCD5DF3F9}"/>
              </a:ext>
            </a:extLst>
          </p:cNvPr>
          <p:cNvSpPr/>
          <p:nvPr/>
        </p:nvSpPr>
        <p:spPr>
          <a:xfrm>
            <a:off x="7052703" y="2599967"/>
            <a:ext cx="1876508" cy="2289976"/>
          </a:xfrm>
          <a:prstGeom prst="roundRect">
            <a:avLst>
              <a:gd name="adj" fmla="val 98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0435C69-CF01-C2D1-0874-D76F649F8A73}"/>
              </a:ext>
            </a:extLst>
          </p:cNvPr>
          <p:cNvSpPr txBox="1"/>
          <p:nvPr/>
        </p:nvSpPr>
        <p:spPr>
          <a:xfrm>
            <a:off x="7220712" y="3462331"/>
            <a:ext cx="15697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PostgreSQL</a:t>
            </a:r>
          </a:p>
          <a:p>
            <a:r>
              <a:rPr lang="en-US" altLang="zh-TW" b="1" dirty="0"/>
              <a:t>Data Warehouse</a:t>
            </a:r>
            <a:endParaRPr lang="zh-TW" altLang="en-US" b="1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1DFEF35-0140-B794-EB09-D48D7DFA1C43}"/>
              </a:ext>
            </a:extLst>
          </p:cNvPr>
          <p:cNvSpPr txBox="1"/>
          <p:nvPr/>
        </p:nvSpPr>
        <p:spPr>
          <a:xfrm>
            <a:off x="7220712" y="4399747"/>
            <a:ext cx="1569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Star Schema Design</a:t>
            </a:r>
            <a:endParaRPr lang="zh-TW" altLang="en-US" sz="1200" dirty="0"/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92D3633A-0A70-FD2B-9777-7F90A338A6A2}"/>
              </a:ext>
            </a:extLst>
          </p:cNvPr>
          <p:cNvSpPr/>
          <p:nvPr/>
        </p:nvSpPr>
        <p:spPr>
          <a:xfrm>
            <a:off x="9849015" y="2679588"/>
            <a:ext cx="1876508" cy="1921022"/>
          </a:xfrm>
          <a:prstGeom prst="roundRect">
            <a:avLst>
              <a:gd name="adj" fmla="val 9887"/>
            </a:avLst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F5ADAFC-DA33-8BD3-2260-E0BF5CF01DE8}"/>
              </a:ext>
            </a:extLst>
          </p:cNvPr>
          <p:cNvSpPr txBox="1"/>
          <p:nvPr/>
        </p:nvSpPr>
        <p:spPr>
          <a:xfrm>
            <a:off x="10033751" y="3576800"/>
            <a:ext cx="156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Power BI Dashboard</a:t>
            </a:r>
            <a:endParaRPr lang="zh-TW" altLang="en-US" b="1" dirty="0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0838F05D-60D1-9CB5-4C14-BE57A544FF6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628634" y="2712021"/>
            <a:ext cx="42406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3B1CF065-276E-E651-99CE-25237F02BA25}"/>
              </a:ext>
            </a:extLst>
          </p:cNvPr>
          <p:cNvCxnSpPr>
            <a:cxnSpLocks/>
          </p:cNvCxnSpPr>
          <p:nvPr/>
        </p:nvCxnSpPr>
        <p:spPr>
          <a:xfrm>
            <a:off x="6628634" y="4399747"/>
            <a:ext cx="42406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9C33F761-FEE6-20A1-8682-EDF11A038BF6}"/>
              </a:ext>
            </a:extLst>
          </p:cNvPr>
          <p:cNvCxnSpPr>
            <a:cxnSpLocks/>
          </p:cNvCxnSpPr>
          <p:nvPr/>
        </p:nvCxnSpPr>
        <p:spPr>
          <a:xfrm>
            <a:off x="8929211" y="3626239"/>
            <a:ext cx="858845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圖片 58">
            <a:extLst>
              <a:ext uri="{FF2B5EF4-FFF2-40B4-BE49-F238E27FC236}">
                <a16:creationId xmlns:a16="http://schemas.microsoft.com/office/drawing/2014/main" id="{6ABE4D11-5223-FC69-1A6E-81655B4FCF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943" y="1639235"/>
            <a:ext cx="1895269" cy="406346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85ACAF39-2B4A-0A6D-6CFC-06D1F8592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6391" y="3752325"/>
            <a:ext cx="1228223" cy="474479"/>
          </a:xfrm>
          <a:prstGeom prst="rect">
            <a:avLst/>
          </a:prstGeom>
        </p:spPr>
      </p:pic>
      <p:pic>
        <p:nvPicPr>
          <p:cNvPr id="67" name="圖片 66" descr="Postgresql plain Wortmarke logo Icon">
            <a:extLst>
              <a:ext uri="{FF2B5EF4-FFF2-40B4-BE49-F238E27FC236}">
                <a16:creationId xmlns:a16="http://schemas.microsoft.com/office/drawing/2014/main" id="{01857DB9-A78A-BBF1-B30B-F2E131AA44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9179" y="2674310"/>
            <a:ext cx="828848" cy="828848"/>
          </a:xfrm>
          <a:prstGeom prst="rect">
            <a:avLst/>
          </a:prstGeom>
        </p:spPr>
      </p:pic>
      <p:pic>
        <p:nvPicPr>
          <p:cNvPr id="68" name="圖片 67" descr="Power BI Microsoft Logo Vector">
            <a:extLst>
              <a:ext uri="{FF2B5EF4-FFF2-40B4-BE49-F238E27FC236}">
                <a16:creationId xmlns:a16="http://schemas.microsoft.com/office/drawing/2014/main" id="{7B4524BA-6C33-1E9F-CE8D-C9541FBC11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8317" y="2837838"/>
            <a:ext cx="1322349" cy="627675"/>
          </a:xfrm>
          <a:prstGeom prst="rect">
            <a:avLst/>
          </a:prstGeom>
        </p:spPr>
      </p:pic>
      <p:sp>
        <p:nvSpPr>
          <p:cNvPr id="69" name="星形: 四角 68">
            <a:extLst>
              <a:ext uri="{FF2B5EF4-FFF2-40B4-BE49-F238E27FC236}">
                <a16:creationId xmlns:a16="http://schemas.microsoft.com/office/drawing/2014/main" id="{8BF2F3CB-D78E-669E-55FC-78B61429791F}"/>
              </a:ext>
            </a:extLst>
          </p:cNvPr>
          <p:cNvSpPr/>
          <p:nvPr/>
        </p:nvSpPr>
        <p:spPr>
          <a:xfrm>
            <a:off x="9493489" y="241922"/>
            <a:ext cx="261569" cy="318052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星形: 四角 69">
            <a:extLst>
              <a:ext uri="{FF2B5EF4-FFF2-40B4-BE49-F238E27FC236}">
                <a16:creationId xmlns:a16="http://schemas.microsoft.com/office/drawing/2014/main" id="{7B8EBFBE-4303-AFEF-CD78-0199B0D4652D}"/>
              </a:ext>
            </a:extLst>
          </p:cNvPr>
          <p:cNvSpPr/>
          <p:nvPr/>
        </p:nvSpPr>
        <p:spPr>
          <a:xfrm>
            <a:off x="9669938" y="795728"/>
            <a:ext cx="170241" cy="20700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星形: 四角 70">
            <a:extLst>
              <a:ext uri="{FF2B5EF4-FFF2-40B4-BE49-F238E27FC236}">
                <a16:creationId xmlns:a16="http://schemas.microsoft.com/office/drawing/2014/main" id="{C79D78C5-791D-193C-8C7A-F9CFA4DEC0BF}"/>
              </a:ext>
            </a:extLst>
          </p:cNvPr>
          <p:cNvSpPr/>
          <p:nvPr/>
        </p:nvSpPr>
        <p:spPr>
          <a:xfrm>
            <a:off x="9928076" y="465528"/>
            <a:ext cx="170241" cy="20700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星形: 四角 75">
            <a:extLst>
              <a:ext uri="{FF2B5EF4-FFF2-40B4-BE49-F238E27FC236}">
                <a16:creationId xmlns:a16="http://schemas.microsoft.com/office/drawing/2014/main" id="{DF48D6B3-FF6C-7FCA-B47C-33981D13A476}"/>
              </a:ext>
            </a:extLst>
          </p:cNvPr>
          <p:cNvSpPr/>
          <p:nvPr/>
        </p:nvSpPr>
        <p:spPr>
          <a:xfrm>
            <a:off x="351304" y="61687"/>
            <a:ext cx="323986" cy="412498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854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853C97B-15F2-9E6C-A4CF-4AC9AA30A50B}"/>
              </a:ext>
            </a:extLst>
          </p:cNvPr>
          <p:cNvSpPr/>
          <p:nvPr/>
        </p:nvSpPr>
        <p:spPr>
          <a:xfrm>
            <a:off x="0" y="-33208"/>
            <a:ext cx="12192000" cy="69244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81DABD1-7A96-6237-A222-BFAFE7631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95" y="1264578"/>
            <a:ext cx="8114463" cy="53353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5640B47-9393-6A11-CF18-6528ADBABE4B}"/>
              </a:ext>
            </a:extLst>
          </p:cNvPr>
          <p:cNvSpPr txBox="1"/>
          <p:nvPr/>
        </p:nvSpPr>
        <p:spPr>
          <a:xfrm>
            <a:off x="626452" y="1460521"/>
            <a:ext cx="2631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aipei Sans TC Beta" pitchFamily="2" charset="-120"/>
                <a:ea typeface="Taipei Sans TC Beta" pitchFamily="2" charset="-120"/>
              </a:rPr>
              <a:t>Dimension Tabel: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dim_time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dim_satellite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dim_shell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  <a:p>
            <a:r>
              <a:rPr lang="en-US" altLang="zh-TW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aipei Sans TC Beta" pitchFamily="2" charset="-120"/>
                <a:ea typeface="Taipei Sans TC Beta" pitchFamily="2" charset="-120"/>
              </a:rPr>
              <a:t>Fact Tabel: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fact_space_weather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fact_orbital_density</a:t>
            </a:r>
            <a:endParaRPr lang="en-US" altLang="zh-TW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fact_satellite_7days_history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bg1">
                    <a:lumMod val="95000"/>
                  </a:schemeClr>
                </a:solidFill>
                <a:latin typeface="Taipei Sans TC Beta" pitchFamily="2" charset="-120"/>
                <a:ea typeface="Taipei Sans TC Beta" pitchFamily="2" charset="-120"/>
              </a:rPr>
              <a:t>fact_orbital_risk_assessment</a:t>
            </a:r>
            <a:endParaRPr lang="zh-TW" altLang="en-US" dirty="0">
              <a:solidFill>
                <a:schemeClr val="bg1">
                  <a:lumMod val="95000"/>
                </a:schemeClr>
              </a:solidFill>
              <a:latin typeface="Taipei Sans TC Beta" pitchFamily="2" charset="-120"/>
              <a:ea typeface="Taipei Sans TC Beta" pitchFamily="2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75F03A8-4EAF-64CD-88BE-9BE9B8B46D7A}"/>
              </a:ext>
            </a:extLst>
          </p:cNvPr>
          <p:cNvSpPr txBox="1"/>
          <p:nvPr/>
        </p:nvSpPr>
        <p:spPr>
          <a:xfrm>
            <a:off x="3477993" y="-33208"/>
            <a:ext cx="90653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>
                <a:solidFill>
                  <a:srgbClr val="FCE056"/>
                </a:solidFill>
                <a:latin typeface="Taipei Sans TC Beta bold" pitchFamily="2" charset="-120"/>
                <a:ea typeface="Taipei Sans TC Beta bold" pitchFamily="2" charset="-120"/>
              </a:rPr>
              <a:t>Database Structure</a:t>
            </a:r>
            <a:endParaRPr lang="zh-TW" altLang="en-US" sz="6600" dirty="0">
              <a:solidFill>
                <a:srgbClr val="FCE056"/>
              </a:solidFill>
              <a:latin typeface="Taipei Sans TC Beta bold" pitchFamily="2" charset="-120"/>
              <a:ea typeface="Taipei Sans TC Beta bold" pitchFamily="2" charset="-120"/>
            </a:endParaRPr>
          </a:p>
        </p:txBody>
      </p:sp>
      <p:sp>
        <p:nvSpPr>
          <p:cNvPr id="13" name="星形: 四角 12">
            <a:extLst>
              <a:ext uri="{FF2B5EF4-FFF2-40B4-BE49-F238E27FC236}">
                <a16:creationId xmlns:a16="http://schemas.microsoft.com/office/drawing/2014/main" id="{B6D73C51-611D-FC4D-528A-0D9224D8A256}"/>
              </a:ext>
            </a:extLst>
          </p:cNvPr>
          <p:cNvSpPr/>
          <p:nvPr/>
        </p:nvSpPr>
        <p:spPr>
          <a:xfrm>
            <a:off x="11579127" y="99029"/>
            <a:ext cx="261569" cy="318052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星形: 四角 13">
            <a:extLst>
              <a:ext uri="{FF2B5EF4-FFF2-40B4-BE49-F238E27FC236}">
                <a16:creationId xmlns:a16="http://schemas.microsoft.com/office/drawing/2014/main" id="{1E3F4A25-60BC-C04A-5F32-09AE37DB002C}"/>
              </a:ext>
            </a:extLst>
          </p:cNvPr>
          <p:cNvSpPr/>
          <p:nvPr/>
        </p:nvSpPr>
        <p:spPr>
          <a:xfrm>
            <a:off x="3307752" y="99029"/>
            <a:ext cx="170241" cy="20700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星形: 四角 14">
            <a:extLst>
              <a:ext uri="{FF2B5EF4-FFF2-40B4-BE49-F238E27FC236}">
                <a16:creationId xmlns:a16="http://schemas.microsoft.com/office/drawing/2014/main" id="{93F5677C-3D1E-5B3E-F5DC-2CA4F30B7814}"/>
              </a:ext>
            </a:extLst>
          </p:cNvPr>
          <p:cNvSpPr/>
          <p:nvPr/>
        </p:nvSpPr>
        <p:spPr>
          <a:xfrm>
            <a:off x="11801658" y="417081"/>
            <a:ext cx="170241" cy="20700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星形: 四角 15">
            <a:extLst>
              <a:ext uri="{FF2B5EF4-FFF2-40B4-BE49-F238E27FC236}">
                <a16:creationId xmlns:a16="http://schemas.microsoft.com/office/drawing/2014/main" id="{998BB234-D123-D7AA-589B-9745A4FA3616}"/>
              </a:ext>
            </a:extLst>
          </p:cNvPr>
          <p:cNvSpPr/>
          <p:nvPr/>
        </p:nvSpPr>
        <p:spPr>
          <a:xfrm>
            <a:off x="3095899" y="380213"/>
            <a:ext cx="323986" cy="412498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40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3EBACB1-094E-E5AA-C0CC-71A8A4AC3ADB}"/>
              </a:ext>
            </a:extLst>
          </p:cNvPr>
          <p:cNvSpPr/>
          <p:nvPr/>
        </p:nvSpPr>
        <p:spPr>
          <a:xfrm>
            <a:off x="0" y="-33208"/>
            <a:ext cx="12192000" cy="692441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38F626-B98A-6FA6-343D-2F6A25A36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308102"/>
              </p:ext>
            </p:extLst>
          </p:nvPr>
        </p:nvGraphicFramePr>
        <p:xfrm>
          <a:off x="907374" y="1844703"/>
          <a:ext cx="10304228" cy="4047213"/>
        </p:xfrm>
        <a:graphic>
          <a:graphicData uri="http://schemas.openxmlformats.org/drawingml/2006/table">
            <a:tbl>
              <a:tblPr/>
              <a:tblGrid>
                <a:gridCol w="5152114">
                  <a:extLst>
                    <a:ext uri="{9D8B030D-6E8A-4147-A177-3AD203B41FA5}">
                      <a16:colId xmlns:a16="http://schemas.microsoft.com/office/drawing/2014/main" val="3723883551"/>
                    </a:ext>
                  </a:extLst>
                </a:gridCol>
                <a:gridCol w="5152114">
                  <a:extLst>
                    <a:ext uri="{9D8B030D-6E8A-4147-A177-3AD203B41FA5}">
                      <a16:colId xmlns:a16="http://schemas.microsoft.com/office/drawing/2014/main" val="782535012"/>
                    </a:ext>
                  </a:extLst>
                </a:gridCol>
              </a:tblGrid>
              <a:tr h="4963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rgbClr val="FCE056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Production Obstacles (Challenges)</a:t>
                      </a:r>
                      <a:endParaRPr lang="zh-TW" sz="1600" dirty="0">
                        <a:solidFill>
                          <a:srgbClr val="FCE056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rgbClr val="FCE056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Engineering Remedies (Solutions)</a:t>
                      </a:r>
                      <a:endParaRPr lang="zh-TW" sz="1600" dirty="0">
                        <a:solidFill>
                          <a:srgbClr val="FCE056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268876"/>
                  </a:ext>
                </a:extLst>
              </a:tr>
              <a:tr h="11836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Docker Network Isolation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: </a:t>
                      </a:r>
                      <a:endParaRPr lang="en-US" altLang="zh-TW" sz="1600" dirty="0">
                        <a:solidFill>
                          <a:schemeClr val="bg1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  <a:p>
                      <a:pPr rtl="0">
                        <a:buNone/>
                      </a:pP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Containers failing to communicate via </a:t>
                      </a:r>
                      <a:r>
                        <a:rPr lang="zh-TW" sz="1600" b="0" i="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localhost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 (DNS resolution breakdown).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Docker Internal Routing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: </a:t>
                      </a:r>
                      <a:endParaRPr lang="en-US" altLang="zh-TW" sz="1600" dirty="0">
                        <a:solidFill>
                          <a:schemeClr val="bg1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  <a:p>
                      <a:pPr rtl="0">
                        <a:buNone/>
                      </a:pP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Hardcoded strict network aliasing (</a:t>
                      </a:r>
                      <a:r>
                        <a:rPr lang="zh-TW" sz="1600" b="0" i="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postgres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) to utilize Docker’s native DNS mesh network.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10007"/>
                  </a:ext>
                </a:extLst>
              </a:tr>
              <a:tr h="11836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Upstream API Rate Limiting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: </a:t>
                      </a:r>
                      <a:endParaRPr lang="en-US" altLang="zh-TW" sz="1600" dirty="0">
                        <a:solidFill>
                          <a:schemeClr val="bg1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  <a:p>
                      <a:pPr rtl="0">
                        <a:buNone/>
                      </a:pP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Multi-day historical backfills getting blocked or throttled by Space-Track.org servers.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Time-Window Pooling &amp; Retry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: </a:t>
                      </a:r>
                      <a:endParaRPr lang="en-US" altLang="zh-TW" sz="1600" dirty="0">
                        <a:solidFill>
                          <a:schemeClr val="bg1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  <a:p>
                      <a:pPr rtl="0">
                        <a:buNone/>
                      </a:pP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Implemented a 1-second interval cooldown buffer and Airflow </a:t>
                      </a:r>
                      <a:r>
                        <a:rPr lang="zh-TW" sz="1600" b="0" i="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retries=2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 delay loops.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092055"/>
                  </a:ext>
                </a:extLst>
              </a:tr>
              <a:tr h="11836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API Key/Schema Mismatch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: </a:t>
                      </a:r>
                      <a:endParaRPr lang="en-US" altLang="zh-TW" sz="1600" dirty="0">
                        <a:solidFill>
                          <a:schemeClr val="bg1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  <a:p>
                      <a:pPr rtl="0">
                        <a:buNone/>
                      </a:pP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Pandas crashing with </a:t>
                      </a:r>
                      <a:r>
                        <a:rPr lang="zh-TW" sz="1600" b="0" i="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KeyError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 due to inconsistent uppercase/lowercase API field updates.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sz="1600" b="1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Defensive Column Normalization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: </a:t>
                      </a:r>
                      <a:endParaRPr lang="en-US" altLang="zh-TW" sz="1600" dirty="0">
                        <a:solidFill>
                          <a:schemeClr val="bg1"/>
                        </a:solidFill>
                        <a:effectLst/>
                        <a:latin typeface="Taipei Sans TC Beta" pitchFamily="2" charset="-120"/>
                        <a:ea typeface="Taipei Sans TC Beta" pitchFamily="2" charset="-120"/>
                      </a:endParaRPr>
                    </a:p>
                    <a:p>
                      <a:pPr rtl="0">
                        <a:buNone/>
                      </a:pP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Programmed an upstream structural sanitization line (</a:t>
                      </a:r>
                      <a:r>
                        <a:rPr lang="zh-TW" sz="1600" b="0" i="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df.columns.str.upper()</a:t>
                      </a:r>
                      <a:r>
                        <a:rPr lang="zh-TW" sz="1600" dirty="0">
                          <a:solidFill>
                            <a:schemeClr val="bg1"/>
                          </a:solidFill>
                          <a:effectLst/>
                          <a:latin typeface="Taipei Sans TC Beta" pitchFamily="2" charset="-120"/>
                          <a:ea typeface="Taipei Sans TC Beta" pitchFamily="2" charset="-120"/>
                        </a:rPr>
                        <a:t>) upon raw load.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0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83792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7326B78-87EC-0770-A392-CB3A3AF16AE2}"/>
              </a:ext>
            </a:extLst>
          </p:cNvPr>
          <p:cNvSpPr txBox="1"/>
          <p:nvPr/>
        </p:nvSpPr>
        <p:spPr>
          <a:xfrm>
            <a:off x="1194030" y="323774"/>
            <a:ext cx="100175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>
                <a:solidFill>
                  <a:srgbClr val="FCE056"/>
                </a:solidFill>
                <a:latin typeface="Taipei Sans TC Beta bold" pitchFamily="2" charset="-120"/>
                <a:ea typeface="Taipei Sans TC Beta bold" pitchFamily="2" charset="-120"/>
              </a:rPr>
              <a:t>Challenges &amp; Solutions</a:t>
            </a:r>
            <a:endParaRPr lang="zh-TW" altLang="en-US" sz="6600" dirty="0">
              <a:solidFill>
                <a:srgbClr val="FCE056"/>
              </a:solidFill>
              <a:latin typeface="Taipei Sans TC Beta bold" pitchFamily="2" charset="-120"/>
              <a:ea typeface="Taipei Sans TC Beta bold" pitchFamily="2" charset="-120"/>
            </a:endParaRPr>
          </a:p>
        </p:txBody>
      </p:sp>
      <p:sp>
        <p:nvSpPr>
          <p:cNvPr id="11" name="星形: 四角 10">
            <a:extLst>
              <a:ext uri="{FF2B5EF4-FFF2-40B4-BE49-F238E27FC236}">
                <a16:creationId xmlns:a16="http://schemas.microsoft.com/office/drawing/2014/main" id="{F05A01CB-D307-14A5-D8A1-ED2F2C255B0F}"/>
              </a:ext>
            </a:extLst>
          </p:cNvPr>
          <p:cNvSpPr/>
          <p:nvPr/>
        </p:nvSpPr>
        <p:spPr>
          <a:xfrm>
            <a:off x="6096000" y="110204"/>
            <a:ext cx="261569" cy="318052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星形: 四角 11">
            <a:extLst>
              <a:ext uri="{FF2B5EF4-FFF2-40B4-BE49-F238E27FC236}">
                <a16:creationId xmlns:a16="http://schemas.microsoft.com/office/drawing/2014/main" id="{0761BD25-8B7E-5164-CC88-313A3E32B835}"/>
              </a:ext>
            </a:extLst>
          </p:cNvPr>
          <p:cNvSpPr/>
          <p:nvPr/>
        </p:nvSpPr>
        <p:spPr>
          <a:xfrm>
            <a:off x="5773669" y="165729"/>
            <a:ext cx="170241" cy="20700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星形: 四角 12">
            <a:extLst>
              <a:ext uri="{FF2B5EF4-FFF2-40B4-BE49-F238E27FC236}">
                <a16:creationId xmlns:a16="http://schemas.microsoft.com/office/drawing/2014/main" id="{3EFF3C08-730A-1F08-8E56-53C5CA6AEE80}"/>
              </a:ext>
            </a:extLst>
          </p:cNvPr>
          <p:cNvSpPr/>
          <p:nvPr/>
        </p:nvSpPr>
        <p:spPr>
          <a:xfrm>
            <a:off x="6508783" y="165728"/>
            <a:ext cx="170241" cy="20700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星形: 四角 13">
            <a:extLst>
              <a:ext uri="{FF2B5EF4-FFF2-40B4-BE49-F238E27FC236}">
                <a16:creationId xmlns:a16="http://schemas.microsoft.com/office/drawing/2014/main" id="{F54625F5-F1C1-6FFD-6257-F71E7C4D0BBE}"/>
              </a:ext>
            </a:extLst>
          </p:cNvPr>
          <p:cNvSpPr/>
          <p:nvPr/>
        </p:nvSpPr>
        <p:spPr>
          <a:xfrm>
            <a:off x="5297593" y="62982"/>
            <a:ext cx="323986" cy="412498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2606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F417B34-2927-7CE8-CC8F-47AD1CE6D98C}"/>
              </a:ext>
            </a:extLst>
          </p:cNvPr>
          <p:cNvSpPr/>
          <p:nvPr/>
        </p:nvSpPr>
        <p:spPr>
          <a:xfrm>
            <a:off x="3808675" y="0"/>
            <a:ext cx="8383325" cy="6891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331866-B870-05DC-90CB-C4635152956B}"/>
              </a:ext>
            </a:extLst>
          </p:cNvPr>
          <p:cNvSpPr txBox="1"/>
          <p:nvPr/>
        </p:nvSpPr>
        <p:spPr>
          <a:xfrm>
            <a:off x="641836" y="2698338"/>
            <a:ext cx="30440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>
                <a:solidFill>
                  <a:srgbClr val="FCE056"/>
                </a:solidFill>
                <a:latin typeface="Taipei Sans TC Beta bold" pitchFamily="2" charset="-120"/>
                <a:ea typeface="Taipei Sans TC Beta bold" pitchFamily="2" charset="-120"/>
              </a:rPr>
              <a:t>Links</a:t>
            </a:r>
            <a:endParaRPr lang="zh-TW" altLang="en-US" sz="6600" dirty="0">
              <a:solidFill>
                <a:srgbClr val="FCE056"/>
              </a:solidFill>
              <a:latin typeface="Taipei Sans TC Beta bold" pitchFamily="2" charset="-120"/>
              <a:ea typeface="Taipei Sans TC Beta bold" pitchFamily="2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D1EACE0-9621-785E-B8E8-50F672EC442A}"/>
              </a:ext>
            </a:extLst>
          </p:cNvPr>
          <p:cNvSpPr txBox="1"/>
          <p:nvPr/>
        </p:nvSpPr>
        <p:spPr>
          <a:xfrm>
            <a:off x="4683312" y="1765769"/>
            <a:ext cx="6973295" cy="815608"/>
          </a:xfrm>
          <a:prstGeom prst="rect">
            <a:avLst/>
          </a:prstGeom>
          <a:noFill/>
          <a:ln w="12700">
            <a:solidFill>
              <a:srgbClr val="FCE056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b="1" dirty="0" err="1">
                <a:solidFill>
                  <a:srgbClr val="FCE056"/>
                </a:solidFill>
                <a:latin typeface="Taipei Sans TC Beta" pitchFamily="2" charset="-120"/>
                <a:ea typeface="Taipei Sans TC Beta" pitchFamily="2" charset="-120"/>
              </a:rPr>
              <a:t>Github</a:t>
            </a:r>
            <a:r>
              <a:rPr lang="en-US" altLang="zh-TW" sz="2400" b="1" dirty="0">
                <a:solidFill>
                  <a:srgbClr val="FCE056"/>
                </a:solidFill>
                <a:latin typeface="Taipei Sans TC Beta" pitchFamily="2" charset="-120"/>
                <a:ea typeface="Taipei Sans TC Beta" pitchFamily="2" charset="-120"/>
              </a:rPr>
              <a:t> link:</a:t>
            </a:r>
          </a:p>
          <a:p>
            <a:pPr>
              <a:spcBef>
                <a:spcPts val="600"/>
              </a:spcBef>
            </a:pPr>
            <a:r>
              <a:rPr lang="en-US" altLang="zh-TW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https://github.com/kevin19cool/BI_project_leo_risk_analysis</a:t>
            </a:r>
            <a:endParaRPr lang="zh-TW" altLang="en-US" dirty="0">
              <a:solidFill>
                <a:schemeClr val="bg1"/>
              </a:solidFill>
              <a:latin typeface="Taipei Sans TC Beta" pitchFamily="2" charset="-120"/>
              <a:ea typeface="Taipei Sans TC Beta" pitchFamily="2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EE2D9B-A080-6DB4-958B-1FB4FAEB4A72}"/>
              </a:ext>
            </a:extLst>
          </p:cNvPr>
          <p:cNvSpPr txBox="1"/>
          <p:nvPr/>
        </p:nvSpPr>
        <p:spPr>
          <a:xfrm>
            <a:off x="4683312" y="4347146"/>
            <a:ext cx="6973295" cy="1723549"/>
          </a:xfrm>
          <a:prstGeom prst="rect">
            <a:avLst/>
          </a:prstGeom>
          <a:noFill/>
          <a:ln w="12700">
            <a:solidFill>
              <a:srgbClr val="FCE056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b="1" dirty="0">
                <a:solidFill>
                  <a:srgbClr val="FCE056"/>
                </a:solidFill>
                <a:latin typeface="Taipei Sans TC Beta" pitchFamily="2" charset="-120"/>
                <a:ea typeface="Taipei Sans TC Beta" pitchFamily="2" charset="-120"/>
              </a:rPr>
              <a:t>API Page: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</a:rPr>
              <a:t>Space-Track:</a:t>
            </a:r>
            <a:br>
              <a:rPr lang="en-US" altLang="zh-TW" b="1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</a:rPr>
            </a:br>
            <a:r>
              <a:rPr lang="en-US" altLang="zh-TW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https://www.space-track.org/documentation#/api</a:t>
            </a:r>
            <a:endParaRPr lang="en-US" altLang="zh-TW" dirty="0">
              <a:solidFill>
                <a:schemeClr val="bg1"/>
              </a:solidFill>
              <a:latin typeface="Taipei Sans TC Beta" pitchFamily="2" charset="-120"/>
              <a:ea typeface="Taipei Sans TC Beta" pitchFamily="2" charset="-12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</a:rPr>
              <a:t>GFZ (Helmholtz-Zentrum für </a:t>
            </a:r>
            <a:r>
              <a:rPr lang="en-US" altLang="zh-TW" b="1" dirty="0" err="1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</a:rPr>
              <a:t>Geoforschung</a:t>
            </a:r>
            <a:r>
              <a:rPr lang="en-US" altLang="zh-TW" b="1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</a:rPr>
              <a:t>):</a:t>
            </a:r>
            <a:br>
              <a:rPr lang="en-US" altLang="zh-TW" b="1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</a:rPr>
            </a:br>
            <a:r>
              <a:rPr lang="en-US" altLang="zh-TW" dirty="0">
                <a:solidFill>
                  <a:schemeClr val="bg1"/>
                </a:solidFill>
                <a:latin typeface="Taipei Sans TC Beta" pitchFamily="2" charset="-120"/>
                <a:ea typeface="Taipei Sans TC Beta" pitchFamily="2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https://kp.gfz.de/en/data</a:t>
            </a:r>
            <a:endParaRPr lang="en-US" altLang="zh-TW" dirty="0">
              <a:solidFill>
                <a:schemeClr val="bg1"/>
              </a:solidFill>
              <a:latin typeface="Taipei Sans TC Beta" pitchFamily="2" charset="-120"/>
              <a:ea typeface="Taipei Sans TC Beta" pitchFamily="2" charset="-120"/>
            </a:endParaRPr>
          </a:p>
        </p:txBody>
      </p:sp>
      <p:pic>
        <p:nvPicPr>
          <p:cNvPr id="9" name="圖片 8" descr="GitHub logo">
            <a:extLst>
              <a:ext uri="{FF2B5EF4-FFF2-40B4-BE49-F238E27FC236}">
                <a16:creationId xmlns:a16="http://schemas.microsoft.com/office/drawing/2014/main" id="{76A4C389-40BA-64E5-9321-A6E36B0E88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4005" y="352688"/>
            <a:ext cx="2283184" cy="12831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15E7895-45D3-65AA-CD31-77BEA9FD5F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463" y="3160296"/>
            <a:ext cx="1116328" cy="111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1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346</Words>
  <Application>Microsoft Office PowerPoint</Application>
  <PresentationFormat>寬螢幕</PresentationFormat>
  <Paragraphs>51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Taipei Sans TC Beta</vt:lpstr>
      <vt:lpstr>Taipei Sans TC Beta bold</vt:lpstr>
      <vt:lpstr>Taipei Sans TC Beta Light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 Cheng Yi</dc:creator>
  <cp:lastModifiedBy>LIN Cheng Yi</cp:lastModifiedBy>
  <cp:revision>3</cp:revision>
  <dcterms:created xsi:type="dcterms:W3CDTF">2026-06-23T09:43:15Z</dcterms:created>
  <dcterms:modified xsi:type="dcterms:W3CDTF">2026-06-23T12:50:23Z</dcterms:modified>
</cp:coreProperties>
</file>